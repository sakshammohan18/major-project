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3"/>
    <p:sldId id="262" r:id="rId4"/>
    <p:sldId id="267" r:id="rId5"/>
    <p:sldId id="268" r:id="rId6"/>
    <p:sldId id="260" r:id="rId7"/>
    <p:sldId id="261" r:id="rId8"/>
    <p:sldId id="258" r:id="rId10"/>
    <p:sldId id="259" r:id="rId11"/>
    <p:sldId id="266" r:id="rId12"/>
    <p:sldId id="263"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4" d="100"/>
          <a:sy n="74" d="100"/>
        </p:scale>
        <p:origin x="206" y="67"/>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686D5F-41C4-45D2-BF08-374DF665674C}"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15BFAF-32A6-4B19-8D6C-3C082298B3A6}"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B15BFAF-32A6-4B19-8D6C-3C082298B3A6}"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93C23CD-11CD-4160-84DB-3049B76160B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0E08C8-8878-45FB-AFA0-323976C9F44F}"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93C23CD-11CD-4160-84DB-3049B76160B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0E08C8-8878-45FB-AFA0-323976C9F44F}"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93C23CD-11CD-4160-84DB-3049B76160B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0E08C8-8878-45FB-AFA0-323976C9F44F}"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A93C23CD-11CD-4160-84DB-3049B76160BD}"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0E08C8-8878-45FB-AFA0-323976C9F44F}"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A93C23CD-11CD-4160-84DB-3049B76160BD}"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80E08C8-8878-45FB-AFA0-323976C9F44F}"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93C23CD-11CD-4160-84DB-3049B76160BD}"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80E08C8-8878-45FB-AFA0-323976C9F44F}"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3C23CD-11CD-4160-84DB-3049B76160BD}"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80E08C8-8878-45FB-AFA0-323976C9F44F}"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93C23CD-11CD-4160-84DB-3049B76160BD}"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0E08C8-8878-45FB-AFA0-323976C9F44F}"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93C23CD-11CD-4160-84DB-3049B76160BD}"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0E08C8-8878-45FB-AFA0-323976C9F44F}"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93C23CD-11CD-4160-84DB-3049B76160B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0E08C8-8878-45FB-AFA0-323976C9F44F}"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93C23CD-11CD-4160-84DB-3049B76160B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0E08C8-8878-45FB-AFA0-323976C9F44F}"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3C23CD-11CD-4160-84DB-3049B76160BD}"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0E08C8-8878-45FB-AFA0-323976C9F44F}"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image" Target="../media/image6.jpeg"/><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jpeg"/><Relationship Id="rId1" Type="http://schemas.openxmlformats.org/officeDocument/2006/relationships/image" Target="../media/image12.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thub.com/SakshamMohan18/Major-Project.git"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5154" y="1311965"/>
            <a:ext cx="9144000" cy="3483873"/>
          </a:xfrm>
        </p:spPr>
        <p:txBody>
          <a:bodyPr>
            <a:normAutofit/>
          </a:bodyPr>
          <a:lstStyle/>
          <a:p>
            <a:r>
              <a:rPr lang="en-US" sz="4800" dirty="0">
                <a:latin typeface="Times New Roman" panose="02020603050405020304" pitchFamily="18" charset="0"/>
                <a:cs typeface="Times New Roman" panose="02020603050405020304" pitchFamily="18" charset="0"/>
              </a:rPr>
              <a:t>A Tool for Lecture Assessment as per OBE policy</a:t>
            </a:r>
            <a:br>
              <a:rPr lang="en-IN" dirty="0"/>
            </a:br>
            <a:endParaRPr lang="en-IN" dirty="0"/>
          </a:p>
        </p:txBody>
      </p:sp>
      <p:sp>
        <p:nvSpPr>
          <p:cNvPr id="3" name="Subtitle 2"/>
          <p:cNvSpPr>
            <a:spLocks noGrp="1"/>
          </p:cNvSpPr>
          <p:nvPr>
            <p:ph type="subTitle" idx="1"/>
          </p:nvPr>
        </p:nvSpPr>
        <p:spPr>
          <a:xfrm>
            <a:off x="1523999" y="4039360"/>
            <a:ext cx="9144000" cy="1655762"/>
          </a:xfrm>
        </p:spPr>
        <p:txBody>
          <a:bodyPr>
            <a:normAutofit lnSpcReduction="10000"/>
          </a:bodyPr>
          <a:lstStyle/>
          <a:p>
            <a:pPr algn="l"/>
            <a:endParaRPr lang="en-IN" dirty="0"/>
          </a:p>
          <a:p>
            <a:pPr algn="just"/>
            <a:r>
              <a:rPr lang="en-IN" dirty="0">
                <a:latin typeface="Times New Roman" panose="02020603050405020304" pitchFamily="18" charset="0"/>
                <a:cs typeface="Times New Roman" panose="02020603050405020304" pitchFamily="18" charset="0"/>
              </a:rPr>
              <a:t>Team Members-</a:t>
            </a:r>
            <a:endParaRPr lang="en-IN" dirty="0">
              <a:latin typeface="Times New Roman" panose="02020603050405020304" pitchFamily="18" charset="0"/>
              <a:cs typeface="Times New Roman" panose="02020603050405020304" pitchFamily="18" charset="0"/>
            </a:endParaRPr>
          </a:p>
          <a:p>
            <a:pPr algn="l"/>
            <a:r>
              <a:rPr lang="en-IN" dirty="0">
                <a:latin typeface="Times New Roman" panose="02020603050405020304" pitchFamily="18" charset="0"/>
                <a:cs typeface="Times New Roman" panose="02020603050405020304" pitchFamily="18" charset="0"/>
              </a:rPr>
              <a:t>Pallavi Sharma (2200290120116)</a:t>
            </a:r>
            <a:endParaRPr lang="en-IN" dirty="0">
              <a:latin typeface="Times New Roman" panose="02020603050405020304" pitchFamily="18" charset="0"/>
              <a:cs typeface="Times New Roman" panose="02020603050405020304" pitchFamily="18" charset="0"/>
            </a:endParaRPr>
          </a:p>
          <a:p>
            <a:pPr algn="l"/>
            <a:r>
              <a:rPr lang="en-IN" dirty="0">
                <a:latin typeface="Times New Roman" panose="02020603050405020304" pitchFamily="18" charset="0"/>
                <a:cs typeface="Times New Roman" panose="02020603050405020304" pitchFamily="18" charset="0"/>
              </a:rPr>
              <a:t>Saksham (2200290120143)</a:t>
            </a:r>
            <a:endParaRPr lang="en-IN" dirty="0">
              <a:latin typeface="Times New Roman" panose="02020603050405020304" pitchFamily="18" charset="0"/>
              <a:cs typeface="Times New Roman" panose="02020603050405020304" pitchFamily="18" charset="0"/>
            </a:endParaRPr>
          </a:p>
          <a:p>
            <a:pPr algn="l"/>
            <a:endParaRPr lang="en-IN" dirty="0"/>
          </a:p>
        </p:txBody>
      </p:sp>
      <p:pic>
        <p:nvPicPr>
          <p:cNvPr id="4" name="Picture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39620" y="193070"/>
            <a:ext cx="11112758" cy="1023541"/>
          </a:xfrm>
          <a:prstGeom prst="rect">
            <a:avLst/>
          </a:prstGeom>
        </p:spPr>
      </p:pic>
      <p:sp>
        <p:nvSpPr>
          <p:cNvPr id="7" name="TextBox 6"/>
          <p:cNvSpPr txBox="1"/>
          <p:nvPr/>
        </p:nvSpPr>
        <p:spPr>
          <a:xfrm>
            <a:off x="3223589" y="1311965"/>
            <a:ext cx="5367131" cy="400110"/>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DEPARTMENT OF COMPUTER SCIENCE</a:t>
            </a:r>
            <a:endParaRPr lang="en-IN"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72316"/>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Problem Statement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2034346"/>
            <a:ext cx="10515600" cy="4351338"/>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In Outcome-Based Education (OBE) environments, measuring student engagement and understanding after each lecture is crucial. Traditional methods, such as oral questioning, often result in limited student participation and fail to provide comprehensive insights into learning outcomes. There is an urgent need for an automated solution to evaluate student understanding after lectures, in real time.</a:t>
            </a:r>
            <a:endParaRPr lang="en-IN" dirty="0">
              <a:latin typeface="Times New Roman" panose="02020603050405020304" pitchFamily="18" charset="0"/>
              <a:cs typeface="Times New Roman" panose="02020603050405020304" pitchFamily="18" charset="0"/>
            </a:endParaRPr>
          </a:p>
          <a:p>
            <a:pPr marL="0" indent="0" algn="just">
              <a:buNone/>
            </a:pP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63907"/>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Project Objective</a:t>
            </a:r>
            <a:endParaRPr lang="en-IN"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2141537"/>
            <a:ext cx="10515600" cy="4351338"/>
          </a:xfrm>
        </p:spPr>
        <p:txBody>
          <a:bodyPr/>
          <a:lstStyle/>
          <a:p>
            <a:pPr marL="0" indent="0">
              <a:buNone/>
            </a:pPr>
            <a:r>
              <a:rPr lang="en-US" dirty="0">
                <a:latin typeface="Times New Roman" panose="02020603050405020304" pitchFamily="18" charset="0"/>
                <a:cs typeface="Times New Roman" panose="02020603050405020304" pitchFamily="18" charset="0"/>
              </a:rPr>
              <a:t>To design and implement a cost-effective, distraction-free hardware-software system that enhances student engagement and accurately measures learning outcomes in classrooms by enabling real-time participation through MCQ-based assessments, without relying on traditional computing infrastructure or mobile devices.</a:t>
            </a: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SDG Mapping</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8049"/>
            <a:ext cx="5804430" cy="4390050"/>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SDG 4 – Quality Education</a:t>
            </a: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87570" y="1027906"/>
            <a:ext cx="5804430" cy="40573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a:spLocks noChangeArrowheads="1"/>
          </p:cNvSpPr>
          <p:nvPr/>
        </p:nvSpPr>
        <p:spPr bwMode="auto">
          <a:xfrm>
            <a:off x="838200" y="2461913"/>
            <a:ext cx="597791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classroom engagement.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teachers track learning outcomes (OBE-based).</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 distraction-free answering system.</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real-time assessment of MCQs.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Enhances teaching effectiveness through technology.</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820"/>
            <a:ext cx="10515600" cy="1325563"/>
          </a:xfrm>
        </p:spPr>
        <p:txBody>
          <a:bodyPr>
            <a:normAutofit/>
          </a:bodyPr>
          <a:lstStyle/>
          <a:p>
            <a:r>
              <a:rPr lang="en-IN"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35693"/>
            <a:ext cx="10515600" cy="5214194"/>
          </a:xfrm>
        </p:spPr>
        <p:txBody>
          <a:bodyPr>
            <a:noAutofit/>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Active student participation is vital for achieving lecture objectives.</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Traditional methods, like asking questions to selected students, may not accurately reflect overall student understanding.</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To solve this, an innovative hardware-software system is introduced to enhance classroom assessments and engagement.</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system includes a compact, user-friendly hardware device that enables students to answer MCQs during lectures.</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replaces mobile phones, reducing distractions from notifications and social media.</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device ensures equal access to technology for all </a:t>
            </a:r>
            <a:r>
              <a:rPr lang="en-US" sz="1800">
                <a:latin typeface="Times New Roman" panose="02020603050405020304" pitchFamily="18" charset="0"/>
                <a:cs typeface="Times New Roman" panose="02020603050405020304" pitchFamily="18" charset="0"/>
              </a:rPr>
              <a:t>students.</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software records responses, offers real-time feedback, and provides analytics for teachers.</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This integration helps educators identify learning gaps, adjust teaching methods, and effectively track student progress.</a:t>
            </a:r>
            <a:endParaRPr lang="en-US" sz="1800" dirty="0">
              <a:latin typeface="Times New Roman" panose="02020603050405020304" pitchFamily="18" charset="0"/>
              <a:cs typeface="Times New Roman" panose="02020603050405020304" pitchFamily="18" charset="0"/>
            </a:endParaRPr>
          </a:p>
          <a:p>
            <a:pPr marL="0" indent="0" algn="just">
              <a:spcBef>
                <a:spcPts val="460"/>
              </a:spcBef>
              <a:buNone/>
            </a:pP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3571" y="23975"/>
            <a:ext cx="10515600" cy="1325563"/>
          </a:xfrm>
        </p:spPr>
        <p:txBody>
          <a:bodyPr>
            <a:normAutofit/>
          </a:bodyPr>
          <a:lstStyle/>
          <a:p>
            <a:endParaRPr lang="en-IN" sz="3600" b="1" dirty="0">
              <a:latin typeface="Times New Roman" panose="02020603050405020304" pitchFamily="18" charset="0"/>
              <a:cs typeface="Times New Roman" panose="02020603050405020304" pitchFamily="18" charset="0"/>
            </a:endParaRPr>
          </a:p>
        </p:txBody>
      </p:sp>
      <p:sp useBgFill="1">
        <p:nvSpPr>
          <p:cNvPr id="8" name="Rectangle 7"/>
          <p:cNvSpPr>
            <a:spLocks noGrp="1" noRot="1" noChangeAspect="1" noMove="1" noResize="1" noEditPoints="1" noAdjustHandles="1" noChangeArrowheads="1" noChangeShapeType="1" noTextEdit="1"/>
          </p:cNvSpPr>
          <p:nvPr/>
        </p:nvSpPr>
        <p:spPr>
          <a:xfrm>
            <a:off x="0" y="1905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p:nvPr/>
        </p:nvSpPr>
        <p:spPr>
          <a:xfrm>
            <a:off x="258344" y="686756"/>
            <a:ext cx="5059222" cy="180016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IN" b="1" dirty="0">
                <a:latin typeface="Times New Roman" panose="02020603050405020304" pitchFamily="18" charset="0"/>
                <a:cs typeface="Times New Roman" panose="02020603050405020304" pitchFamily="18" charset="0"/>
              </a:rPr>
              <a:t>Technology Used</a:t>
            </a:r>
            <a:r>
              <a:rPr lang="en-IN" b="1" dirty="0"/>
              <a:t>	</a:t>
            </a:r>
            <a:endParaRPr lang="en-IN" b="1" dirty="0"/>
          </a:p>
        </p:txBody>
      </p:sp>
      <p:pic>
        <p:nvPicPr>
          <p:cNvPr id="10" name="Content Placeholder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51936" y="2772471"/>
            <a:ext cx="1210521" cy="1073329"/>
          </a:xfrm>
          <a:prstGeom prst="rect">
            <a:avLst/>
          </a:prstGeom>
        </p:spPr>
      </p:pic>
      <p:sp>
        <p:nvSpPr>
          <p:cNvPr id="11" name="Rectangle 10"/>
          <p:cNvSpPr>
            <a:spLocks noGrp="1" noRot="1" noChangeAspect="1" noMove="1" noResize="1" noEditPoints="1" noAdjustHandles="1" noChangeArrowheads="1" noChangeShapeType="1" noTextEdit="1"/>
          </p:cNvSpPr>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3"/>
          <p:cNvSpPr>
            <a:spLocks noGrp="1"/>
          </p:cNvSpPr>
          <p:nvPr>
            <p:ph type="sldNum" sz="quarter" idx="12"/>
          </p:nvPr>
        </p:nvSpPr>
        <p:spPr>
          <a:xfrm>
            <a:off x="11704320" y="6451877"/>
            <a:ext cx="448056" cy="365125"/>
          </a:xfrm>
        </p:spPr>
        <p:txBody>
          <a:bodyPr>
            <a:normAutofit/>
          </a:bodyPr>
          <a:lstStyle/>
          <a:p>
            <a:pPr>
              <a:spcAft>
                <a:spcPts val="600"/>
              </a:spcAft>
            </a:pPr>
            <a:fld id="{3F87B148-DC85-4EDB-ACA3-100B1D618A48}" type="slidenum">
              <a:rPr lang="en-IN" sz="1100">
                <a:solidFill>
                  <a:srgbClr val="FFFFFF"/>
                </a:solidFill>
              </a:rPr>
            </a:fld>
            <a:endParaRPr lang="en-IN" sz="1100">
              <a:solidFill>
                <a:srgbClr val="FFFFFF"/>
              </a:solidFill>
            </a:endParaRPr>
          </a:p>
        </p:txBody>
      </p:sp>
      <p:sp>
        <p:nvSpPr>
          <p:cNvPr id="15" name="TextBox 14"/>
          <p:cNvSpPr txBox="1"/>
          <p:nvPr/>
        </p:nvSpPr>
        <p:spPr>
          <a:xfrm>
            <a:off x="753571" y="1605187"/>
            <a:ext cx="1926956" cy="738664"/>
          </a:xfrm>
          <a:prstGeom prst="rect">
            <a:avLst/>
          </a:prstGeom>
          <a:noFill/>
        </p:spPr>
        <p:txBody>
          <a:bodyPr wrap="square" rtlCol="0">
            <a:spAutoFit/>
          </a:bodyPr>
          <a:lstStyle/>
          <a:p>
            <a:r>
              <a:rPr lang="en-US" sz="2400" u="sng" dirty="0">
                <a:latin typeface="Times New Roman" panose="02020603050405020304" pitchFamily="18" charset="0"/>
                <a:cs typeface="Times New Roman" panose="02020603050405020304" pitchFamily="18" charset="0"/>
              </a:rPr>
              <a:t>Frontend</a:t>
            </a:r>
            <a:r>
              <a:rPr lang="en-US" u="sng" dirty="0">
                <a:latin typeface="Times New Roman" panose="02020603050405020304" pitchFamily="18" charset="0"/>
                <a:cs typeface="Times New Roman" panose="02020603050405020304" pitchFamily="18" charset="0"/>
              </a:rPr>
              <a:t> </a:t>
            </a:r>
            <a:endParaRPr lang="en-US" u="sng"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React.js </a:t>
            </a:r>
            <a:endParaRPr lang="en-US"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3518727" y="1586838"/>
            <a:ext cx="1260281" cy="738664"/>
          </a:xfrm>
          <a:prstGeom prst="rect">
            <a:avLst/>
          </a:prstGeom>
          <a:noFill/>
        </p:spPr>
        <p:txBody>
          <a:bodyPr wrap="none" rtlCol="0">
            <a:spAutoFit/>
          </a:bodyPr>
          <a:lstStyle/>
          <a:p>
            <a:r>
              <a:rPr lang="en-US" sz="2400" u="sng" dirty="0">
                <a:latin typeface="Times New Roman" panose="02020603050405020304" pitchFamily="18" charset="0"/>
                <a:cs typeface="Times New Roman" panose="02020603050405020304" pitchFamily="18" charset="0"/>
              </a:rPr>
              <a:t>Backend</a:t>
            </a:r>
            <a:endParaRPr lang="en-US" sz="2400" u="sng"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Node.js</a:t>
            </a:r>
            <a:endParaRPr lang="en-US" dirty="0">
              <a:latin typeface="Times New Roman" panose="02020603050405020304" pitchFamily="18" charset="0"/>
              <a:cs typeface="Times New Roman" panose="02020603050405020304" pitchFamily="18" charset="0"/>
            </a:endParaRPr>
          </a:p>
        </p:txBody>
      </p:sp>
      <p:pic>
        <p:nvPicPr>
          <p:cNvPr id="17" name="Picture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8336" y="2611236"/>
            <a:ext cx="1096697" cy="1296096"/>
          </a:xfrm>
          <a:prstGeom prst="rect">
            <a:avLst/>
          </a:prstGeom>
        </p:spPr>
      </p:pic>
      <p:sp>
        <p:nvSpPr>
          <p:cNvPr id="20" name="TextBox 19"/>
          <p:cNvSpPr txBox="1"/>
          <p:nvPr/>
        </p:nvSpPr>
        <p:spPr>
          <a:xfrm>
            <a:off x="6257373" y="1586772"/>
            <a:ext cx="1482052" cy="1015663"/>
          </a:xfrm>
          <a:prstGeom prst="rect">
            <a:avLst/>
          </a:prstGeom>
          <a:noFill/>
        </p:spPr>
        <p:txBody>
          <a:bodyPr wrap="square" rtlCol="0">
            <a:spAutoFit/>
          </a:bodyPr>
          <a:lstStyle/>
          <a:p>
            <a:r>
              <a:rPr lang="en-US" sz="2400" u="sng" dirty="0">
                <a:latin typeface="Times New Roman" panose="02020603050405020304" pitchFamily="18" charset="0"/>
                <a:cs typeface="Times New Roman" panose="02020603050405020304" pitchFamily="18" charset="0"/>
              </a:rPr>
              <a:t>IOT</a:t>
            </a:r>
            <a:endParaRPr lang="en-US" sz="2400" u="sng"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RFID</a:t>
            </a: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Arduino</a:t>
            </a:r>
            <a:endParaRPr lang="en-US" dirty="0">
              <a:latin typeface="Times New Roman" panose="02020603050405020304" pitchFamily="18" charset="0"/>
              <a:cs typeface="Times New Roman" panose="02020603050405020304" pitchFamily="18" charset="0"/>
            </a:endParaRPr>
          </a:p>
        </p:txBody>
      </p:sp>
      <p:sp>
        <p:nvSpPr>
          <p:cNvPr id="28" name="TextBox 27"/>
          <p:cNvSpPr txBox="1"/>
          <p:nvPr/>
        </p:nvSpPr>
        <p:spPr>
          <a:xfrm>
            <a:off x="2898223" y="5221978"/>
            <a:ext cx="5715000" cy="230832"/>
          </a:xfrm>
          <a:prstGeom prst="rect">
            <a:avLst/>
          </a:prstGeom>
          <a:noFill/>
        </p:spPr>
        <p:txBody>
          <a:bodyPr wrap="square" rtlCol="0">
            <a:spAutoFit/>
          </a:bodyPr>
          <a:lstStyle/>
          <a:p>
            <a:endParaRPr lang="en-US" sz="900" dirty="0"/>
          </a:p>
        </p:txBody>
      </p:sp>
      <p:pic>
        <p:nvPicPr>
          <p:cNvPr id="33" name="Picture 3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6307" y="2839423"/>
            <a:ext cx="1823049" cy="1367287"/>
          </a:xfrm>
          <a:prstGeom prst="rect">
            <a:avLst/>
          </a:prstGeom>
        </p:spPr>
      </p:pic>
      <p:pic>
        <p:nvPicPr>
          <p:cNvPr id="36" name="Picture 3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85517" y="2866717"/>
            <a:ext cx="1823049" cy="13612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0877" y="0"/>
            <a:ext cx="10515600" cy="1325563"/>
          </a:xfrm>
        </p:spPr>
        <p:txBody>
          <a:bodyPr>
            <a:normAutofit/>
          </a:bodyPr>
          <a:lstStyle/>
          <a:p>
            <a:r>
              <a:rPr lang="en-IN" sz="3600" b="1" dirty="0">
                <a:latin typeface="Times New Roman" panose="02020603050405020304" pitchFamily="18" charset="0"/>
                <a:cs typeface="Times New Roman" panose="02020603050405020304" pitchFamily="18" charset="0"/>
              </a:rPr>
              <a:t>Flowchart</a:t>
            </a:r>
            <a:endParaRPr lang="en-IN" sz="3600" b="1" dirty="0">
              <a:latin typeface="Times New Roman" panose="02020603050405020304" pitchFamily="18" charset="0"/>
              <a:cs typeface="Times New Roman" panose="02020603050405020304" pitchFamily="18" charset="0"/>
            </a:endParaRPr>
          </a:p>
        </p:txBody>
      </p:sp>
      <p:pic>
        <p:nvPicPr>
          <p:cNvPr id="7" name="Content Placeholder 6"/>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3735238" y="143474"/>
            <a:ext cx="7060469" cy="6410164"/>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9903" y="86829"/>
            <a:ext cx="10515600" cy="1325563"/>
          </a:xfrm>
        </p:spPr>
        <p:txBody>
          <a:bodyPr>
            <a:normAutofit/>
          </a:bodyPr>
          <a:lstStyle/>
          <a:p>
            <a:r>
              <a:rPr lang="en-IN" sz="3600" b="1" dirty="0">
                <a:latin typeface="Times New Roman" panose="02020603050405020304" pitchFamily="18" charset="0"/>
                <a:cs typeface="Times New Roman" panose="02020603050405020304" pitchFamily="18" charset="0"/>
              </a:rPr>
              <a:t>ER Diagram</a:t>
            </a:r>
            <a:endParaRPr lang="en-IN" sz="3600" b="1" dirty="0">
              <a:latin typeface="Times New Roman" panose="02020603050405020304" pitchFamily="18" charset="0"/>
              <a:cs typeface="Times New Roman" panose="02020603050405020304" pitchFamily="18" charset="0"/>
            </a:endParaRPr>
          </a:p>
        </p:txBody>
      </p:sp>
      <p:pic>
        <p:nvPicPr>
          <p:cNvPr id="5" name="Content Placeholder 4" descr="A diagram of a company"/>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3269974" y="412473"/>
            <a:ext cx="8723243" cy="6033053"/>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45855"/>
            <a:ext cx="10515600" cy="1325563"/>
          </a:xfrm>
        </p:spPr>
        <p:txBody>
          <a:bodyPr/>
          <a:lstStyle/>
          <a:p>
            <a:r>
              <a:rPr lang="en-IN" b="1" dirty="0">
                <a:latin typeface="Times New Roman" panose="02020603050405020304" pitchFamily="18" charset="0"/>
                <a:cs typeface="Times New Roman" panose="02020603050405020304" pitchFamily="18" charset="0"/>
              </a:rPr>
              <a:t>Project Prototype</a:t>
            </a:r>
            <a:endParaRPr lang="en-IN" b="1" dirty="0">
              <a:latin typeface="Times New Roman" panose="02020603050405020304" pitchFamily="18" charset="0"/>
              <a:cs typeface="Times New Roman" panose="02020603050405020304" pitchFamily="18" charset="0"/>
            </a:endParaRPr>
          </a:p>
        </p:txBody>
      </p:sp>
      <p:pic>
        <p:nvPicPr>
          <p:cNvPr id="6" name="Picture 5" descr="A close up of a sign&#10;&#10;AI-generated content may be incorrect."/>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8199" y="1571418"/>
            <a:ext cx="4608731" cy="2517775"/>
          </a:xfrm>
          <a:prstGeom prst="rect">
            <a:avLst/>
          </a:prstGeom>
          <a:noFill/>
          <a:ln>
            <a:noFill/>
          </a:ln>
        </p:spPr>
      </p:pic>
      <p:pic>
        <p:nvPicPr>
          <p:cNvPr id="7" name="Content Placeholder 6" descr="A circuit board with wires&#10;&#10;AI-generated content may be incorrect."/>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034700" y="1571418"/>
            <a:ext cx="4731328" cy="2517775"/>
          </a:xfrm>
          <a:prstGeom prst="rect">
            <a:avLst/>
          </a:prstGeom>
          <a:noFill/>
          <a:ln>
            <a:noFill/>
          </a:ln>
        </p:spPr>
      </p:pic>
      <p:pic>
        <p:nvPicPr>
          <p:cNvPr id="8" name="Picture 7" descr="A diagram of a computer&#10;&#10;AI-generated content may be incorrec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84864" y="4370077"/>
            <a:ext cx="4038449" cy="183301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112" y="149087"/>
            <a:ext cx="10515600" cy="1325563"/>
          </a:xfrm>
        </p:spPr>
        <p:txBody>
          <a:bodyPr>
            <a:normAutofit/>
          </a:bodyPr>
          <a:lstStyle/>
          <a:p>
            <a:r>
              <a:rPr lang="en-IN" b="1" dirty="0">
                <a:latin typeface="Times New Roman" panose="02020603050405020304" pitchFamily="18" charset="0"/>
                <a:cs typeface="Times New Roman" panose="02020603050405020304" pitchFamily="18" charset="0"/>
              </a:rPr>
              <a:t>Project Prototype</a:t>
            </a:r>
            <a:endParaRPr lang="en-IN" b="1" dirty="0">
              <a:latin typeface="Times New Roman" panose="02020603050405020304" pitchFamily="18" charset="0"/>
              <a:cs typeface="Times New Roman" panose="02020603050405020304" pitchFamily="18" charset="0"/>
            </a:endParaRPr>
          </a:p>
        </p:txBody>
      </p:sp>
      <p:pic>
        <p:nvPicPr>
          <p:cNvPr id="5" name="Content Placeholder 4" descr="A blue circuit board with wires&#10;&#10;AI-generated content may be incorrect."/>
          <p:cNvPicPr>
            <a:picLocks noGrp="1" noChangeAspect="1"/>
          </p:cNvPicPr>
          <p:nvPr>
            <p:ph idx="1"/>
          </p:nvPr>
        </p:nvPicPr>
        <p:blipFill>
          <a:blip r:embed="rId1">
            <a:extLst>
              <a:ext uri="{28A0092B-C50C-407E-A947-70E740481C1C}">
                <a14:useLocalDpi xmlns:a14="http://schemas.microsoft.com/office/drawing/2010/main" val="0"/>
              </a:ext>
            </a:extLst>
          </a:blip>
          <a:srcRect r="1216" b="2761"/>
          <a:stretch>
            <a:fillRect/>
          </a:stretch>
        </p:blipFill>
        <p:spPr>
          <a:xfrm>
            <a:off x="653810" y="1666387"/>
            <a:ext cx="3587402" cy="4708414"/>
          </a:xfrm>
        </p:spPr>
      </p:pic>
      <p:pic>
        <p:nvPicPr>
          <p:cNvPr id="7" name="Picture 6" descr="A computer with a computer monitor and electronic components&#10;&#10;AI-generated content may be incorrec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3287" y="1218850"/>
            <a:ext cx="6874601" cy="515595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Project Status</a:t>
            </a:r>
            <a:endParaRPr lang="en-IN" dirty="0"/>
          </a:p>
        </p:txBody>
      </p:sp>
      <p:sp>
        <p:nvSpPr>
          <p:cNvPr id="3" name="Content Placeholder 2"/>
          <p:cNvSpPr>
            <a:spLocks noGrp="1"/>
          </p:cNvSpPr>
          <p:nvPr>
            <p:ph idx="1"/>
          </p:nvPr>
        </p:nvSpPr>
        <p:spPr/>
        <p:txBody>
          <a:bodyPr/>
          <a:lstStyle/>
          <a:p>
            <a:pPr marL="0" indent="0">
              <a:buNone/>
            </a:pPr>
            <a:r>
              <a:rPr lang="en-IN" b="1" dirty="0" err="1">
                <a:latin typeface="Times New Roman" panose="02020603050405020304" pitchFamily="18" charset="0"/>
                <a:cs typeface="Times New Roman" panose="02020603050405020304" pitchFamily="18" charset="0"/>
              </a:rPr>
              <a:t>Github</a:t>
            </a:r>
            <a:r>
              <a:rPr lang="en-IN" b="1" dirty="0">
                <a:latin typeface="Times New Roman" panose="02020603050405020304" pitchFamily="18" charset="0"/>
                <a:cs typeface="Times New Roman" panose="02020603050405020304" pitchFamily="18" charset="0"/>
              </a:rPr>
              <a:t> Link:</a:t>
            </a:r>
            <a:endParaRPr lang="en-IN" b="1"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hlinkClick r:id="rId1"/>
              </a:rPr>
              <a:t>https://github.com/SakshamMohan18/Major-Project.git </a:t>
            </a: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Patent Status</a:t>
            </a:r>
            <a:endParaRPr lang="en-IN" dirty="0"/>
          </a:p>
        </p:txBody>
      </p:sp>
      <p:sp>
        <p:nvSpPr>
          <p:cNvPr id="3" name="Content Placeholder 2"/>
          <p:cNvSpPr>
            <a:spLocks noGrp="1"/>
          </p:cNvSpPr>
          <p:nvPr>
            <p:ph idx="1"/>
          </p:nvPr>
        </p:nvSpPr>
        <p:spPr/>
        <p:txBody>
          <a:bodyPr/>
          <a:lstStyle/>
          <a:p>
            <a:pPr marL="0" indent="0">
              <a:buNone/>
            </a:pPr>
            <a:r>
              <a:rPr lang="en-IN" dirty="0">
                <a:latin typeface="Times New Roman" panose="02020603050405020304" pitchFamily="18" charset="0"/>
                <a:cs typeface="Times New Roman" panose="02020603050405020304" pitchFamily="18" charset="0"/>
              </a:rPr>
              <a:t>Patent published</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Research Paper Status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IN" dirty="0">
                <a:latin typeface="Times New Roman" panose="02020603050405020304" pitchFamily="18" charset="0"/>
                <a:cs typeface="Times New Roman" panose="02020603050405020304" pitchFamily="18" charset="0"/>
              </a:rPr>
              <a:t>Presented at </a:t>
            </a:r>
            <a:r>
              <a:rPr lang="en-IN" b="1"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International Conference on Innovative Practices in Technology and Management</a:t>
            </a:r>
            <a:r>
              <a:rPr lang="en-IN" altLang="en-US" b="1" dirty="0">
                <a:latin typeface="Times New Roman" panose="02020603050405020304" pitchFamily="18" charset="0"/>
                <a:cs typeface="Times New Roman" panose="02020603050405020304" pitchFamily="18" charset="0"/>
              </a:rPr>
              <a:t> </a:t>
            </a:r>
            <a:r>
              <a:rPr lang="en-IN" altLang="en-US" dirty="0">
                <a:latin typeface="Times New Roman" panose="02020603050405020304" pitchFamily="18" charset="0"/>
                <a:cs typeface="Times New Roman" panose="02020603050405020304" pitchFamily="18" charset="0"/>
              </a:rPr>
              <a:t>on 20th February, 2026</a:t>
            </a: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2302</Words>
  <Application>WPS Presentation</Application>
  <PresentationFormat>Widescreen</PresentationFormat>
  <Paragraphs>83</Paragraphs>
  <Slides>13</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13</vt:i4>
      </vt:variant>
    </vt:vector>
  </HeadingPairs>
  <TitlesOfParts>
    <vt:vector size="24" baseType="lpstr">
      <vt:lpstr>Arial</vt:lpstr>
      <vt:lpstr>SimSun</vt:lpstr>
      <vt:lpstr>Wingdings</vt:lpstr>
      <vt:lpstr>Times New Roman</vt:lpstr>
      <vt:lpstr>Aptos Display</vt:lpstr>
      <vt:lpstr>Segoe UI Variable Display</vt:lpstr>
      <vt:lpstr>Aptos</vt:lpstr>
      <vt:lpstr>Segoe UI</vt:lpstr>
      <vt:lpstr>Microsoft YaHei</vt:lpstr>
      <vt:lpstr>Arial Unicode MS</vt:lpstr>
      <vt:lpstr>Office Theme</vt:lpstr>
      <vt:lpstr>A Tool for Lecture Assessment as per OBE policy </vt:lpstr>
      <vt:lpstr>Problem Statement</vt:lpstr>
      <vt:lpstr>Project Objective</vt:lpstr>
      <vt:lpstr>SDG Mapping</vt:lpstr>
      <vt:lpstr>Introduction</vt:lpstr>
      <vt:lpstr>PowerPoint 演示文稿</vt:lpstr>
      <vt:lpstr>Flowchart</vt:lpstr>
      <vt:lpstr>ER Diagram</vt:lpstr>
      <vt:lpstr>Project Prototype</vt:lpstr>
      <vt:lpstr>Project Prototype</vt:lpstr>
      <vt:lpstr>Project Status</vt:lpstr>
      <vt:lpstr>Patent Status</vt:lpstr>
      <vt:lpstr>Research Paper Status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Pallavi Sharma</dc:creator>
  <cp:lastModifiedBy>palla</cp:lastModifiedBy>
  <cp:revision>5</cp:revision>
  <dcterms:created xsi:type="dcterms:W3CDTF">2025-04-18T19:10:00Z</dcterms:created>
  <dcterms:modified xsi:type="dcterms:W3CDTF">2026-05-07T05:10:26Z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532B88285559425B998B67A15B693C72_12</vt:lpwstr>
  </property>
  <property fmtid="{D5CDD505-2E9C-101B-9397-08002B2CF9AE}" pid="3" name="KSOProductBuildVer">
    <vt:lpwstr>1033-12.2.0.23196</vt:lpwstr>
  </property>
</Properties>
</file>